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7315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ADCFC"/>
                </a:solidFill>
                <a:latin typeface="Pretendard"/>
              </a:rPr>
              <a:t>AEGIS ATV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Pretendard"/>
              </a:rPr>
              <a:t>사용 설명서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CADCFC"/>
                </a:solidFill>
                <a:latin typeface="Pretendard"/>
              </a:rPr>
              <a:t>AI 에이전트의 모든 행동을 실행 직전 검증하고 위조 불가능한 기록으로 남깁니다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Pretendard"/>
              </a:rPr>
              <a:t>AegisData  ·  2026-05-15  ·  비전문가용 통합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한 페이지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Aegis 는 무엇을 하는 도구입니까?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1A1E36"/>
                </a:solidFill>
                <a:latin typeface="Pretendard"/>
              </a:rPr>
              <a:t>AI 에이전트가 실수 또는 공격으로 시스템을 망가뜨리지 못하게 막고,
동시에 모든 행동을 위조 불가능한 기록으로 남기는 도구입니다.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1A1E36"/>
                </a:solidFill>
                <a:latin typeface="Pretendard"/>
              </a:rPr>
              <a:t>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E2761"/>
                </a:solidFill>
                <a:latin typeface="Pretendard"/>
              </a:rPr>
              <a:t>자물쇠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8A90A8"/>
                </a:solidFill>
                <a:latin typeface="Pretendard"/>
              </a:rPr>
              <a:t>위험한 명령을 실행 직전에 막습니다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10896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1A1E36"/>
                </a:solidFill>
                <a:latin typeface="Pretendard"/>
              </a:rPr>
              <a:t>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23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E2761"/>
                </a:solidFill>
                <a:latin typeface="Pretendard"/>
              </a:rPr>
              <a:t>CCTV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2628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8A90A8"/>
                </a:solidFill>
                <a:latin typeface="Pretendard"/>
              </a:rPr>
              <a:t>모든 행동을 시간 순서대로 기록합니다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10896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1A1E36"/>
                </a:solidFill>
                <a:latin typeface="Pretendard"/>
              </a:rPr>
              <a:t>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23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E2761"/>
                </a:solidFill>
                <a:latin typeface="Pretendard"/>
              </a:rPr>
              <a:t>공증된 영수증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52628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8A90A8"/>
                </a:solidFill>
                <a:latin typeface="Pretendard"/>
              </a:rPr>
              <a:t>암호로 서명되어 위조 불가능합니다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어디에 끼어드나요?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"below the model" — 결정과 실행 사이의 chokepoint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329184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59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Pretendard"/>
              </a:rPr>
              <a:t>AI 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0A8"/>
                </a:solidFill>
                <a:latin typeface="Pretendard"/>
              </a:rPr>
              <a:t>Claude Code · OpenClaw · Codex · custom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94560"/>
            <a:ext cx="329184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359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retendard"/>
              </a:rPr>
              <a:t>★ AEGIS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34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Pretendard"/>
              </a:rPr>
              <a:t>16-step firewall · cryptographic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94560"/>
            <a:ext cx="329184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359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Pretendard"/>
              </a:rPr>
              <a:t>실제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34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0A8"/>
                </a:solidFill>
                <a:latin typeface="Pretendard"/>
              </a:rPr>
              <a:t>셸 · DB · API · 결제 · 파일시스템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86200" y="2606040"/>
            <a:ext cx="365760" cy="27432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35240" y="2606040"/>
            <a:ext cx="365760" cy="27432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1A1E36"/>
                </a:solidFill>
                <a:latin typeface="Pretendard"/>
              </a:rPr>
              <a:t>모델의 안전 응답 필터보다 한 단계 더 아래에서 작동합니다.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Pretendard"/>
              </a:rPr>
              <a:t>&lt; 50ms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0A8"/>
                </a:solidFill>
                <a:latin typeface="Pretendard"/>
              </a:rPr>
              <a:t>정책 결정 지연 (p95)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6634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80060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Pretendard"/>
              </a:rPr>
              <a:t>≥ 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5321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0A8"/>
                </a:solidFill>
                <a:latin typeface="Pretendard"/>
              </a:rPr>
              <a:t>공격 차단율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6634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80060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E2761"/>
                </a:solidFill>
                <a:latin typeface="Pretendard"/>
              </a:rPr>
              <a:t>1 cmd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53212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0A8"/>
                </a:solidFill>
                <a:latin typeface="Pretendard"/>
              </a:rPr>
              <a:t>외부 감사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어떤 사람에게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5 가지 사용자 페르소나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947672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Pretendard"/>
              </a:rPr>
              <a:t>🧑‍💻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Claude Code 일상 사용 개발자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12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위험한 파일 삭제 자동 차단 + 모든 작업 자동 기록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78892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Pretendard"/>
              </a:rP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15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병원 · 금융 · 정부 규제 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5409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EU AI Act · HIPAA · SOC 2 가 요구하는 변조 불가 감사 로그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630168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7588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Pretendard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5701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AI 에이전트를 만드는 개발자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953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OpenClaw · 자체 프레임워크에 보안 + 감사 layer 한 줄로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471416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17136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Pretendard"/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982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기업 보안 · 컴플라이언스 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36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여러 AI 도구 × 여러 LLM provider 의 행동을 하나의 대시보드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5312664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58384"/>
            <a:ext cx="594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Pretendard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239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Multi-LLM 환경 운영자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577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OpenRouter 환경에서 어느 provider 가 더 위험한지 정량 측정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한 시나리오로 보는 동작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삭제 사고 방지 — Aegis 없을 때 vs 있을 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D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F96167"/>
                </a:solidFill>
                <a:latin typeface="Pretendard"/>
              </a:rPr>
              <a:t>❌  Aegis 없이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A1E36"/>
                </a:solidFill>
                <a:latin typeface="Consolas"/>
              </a:rPr>
              <a:t>사용자: "tmp 정리해줘"
Claude:  → 시스템 폴더 대상 재귀 삭제 명령
        → 실행됨
→ 시스템 망가짐 ❌
→ 사후 분석 자료 없음 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4774A"/>
                </a:solidFill>
                <a:latin typeface="Pretendard"/>
              </a:rPr>
              <a:t>✓  Aegis 와 함께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1A1E36"/>
                </a:solidFill>
                <a:latin typeface="Consolas"/>
              </a:rPr>
              <a:t>사용자: "tmp 정리해줘"
Claude:  → 같은 위험 명령 시도
Aegis:   ⛔ BLOCK trace=abc123 (45ms)
         reason: dangerous pattern
         advise: security-reviewer
→ 안 망가짐 ✓
→ audit log 에 시도 영구 기록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5분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4 가지 설치 옵션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Pretendard"/>
              </a:rPr>
              <a:t>A · Solo 개발자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Consolas"/>
              </a:rPr>
              <a:t>git clone https://github.com/happyikas/Aegis-ATV.git
cd Aegis-ATV &amp;&amp; uv sync
uv run aegis install --mode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0195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Pretendard"/>
              </a:rPr>
              <a:t>B · 한 줄 설치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Consolas"/>
              </a:rPr>
              <a:t>curl -LsSf https://raw.githubusercontent.com/
  happyikas/Aegis-ATV/main/scripts/install.sh | bash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2511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Pretendard"/>
              </a:rPr>
              <a:t>C · Mac (Homebrew)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Consolas"/>
              </a:rPr>
              <a:t>brew tap happyikas/aegis \
  https://github.com/happyikas/Aegis-ATV.git
brew install happyikas/aegis/aegis
aegis install --mode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6052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32511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Pretendard"/>
              </a:rPr>
              <a:t>D · 기업 · 멀티 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20"/>
            <a:ext cx="5074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Consolas"/>
              </a:rPr>
              <a:t>docker compose up -d
# localhost:8000 FastAPI 가동
# 멀티 클라이언트가 이 service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처음 5 가지 명령어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설치 후 가장 먼저 익혀야 할 명령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A90A8"/>
                </a:solidFill>
                <a:latin typeface="Pretendard"/>
              </a:rPr>
              <a:t>명령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737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A90A8"/>
                </a:solidFill>
                <a:latin typeface="Pretendard"/>
              </a:rPr>
              <a:t>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737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A90A8"/>
                </a:solidFill>
                <a:latin typeface="Pretendard"/>
              </a:rPr>
              <a:t>언제 쓰나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onsolas"/>
              </a:rPr>
              <a:t>aegis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762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설치 상태 + 운영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8A90A8"/>
                </a:solidFill>
                <a:latin typeface="Pretendard"/>
              </a:rPr>
              <a:t>매일 첫 명령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9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onsolas"/>
              </a:rPr>
              <a:t>aegis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791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최근 24h 위험 요약 (5줄)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6791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8A90A8"/>
                </a:solidFill>
                <a:latin typeface="Pretendard"/>
              </a:rPr>
              <a:t>매일 / 매주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11091672" cy="4572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onsolas"/>
              </a:rPr>
              <a:t>aegis verify-audit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1821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감사 체인 무결성 검증 (1s)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1821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8A90A8"/>
                </a:solidFill>
                <a:latin typeface="Pretendard"/>
              </a:rPr>
              <a:t>사건 의심 / 매주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85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onsolas"/>
              </a:rPr>
              <a:t>aegis forensic 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6850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최근 BLOCK 케이스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685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8A90A8"/>
                </a:solidFill>
                <a:latin typeface="Pretendard"/>
              </a:rPr>
              <a:t>왜 차단됐지?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879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onsolas"/>
              </a:rPr>
              <a:t>aegis advise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1879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advisor 권고 종합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1879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8A90A8"/>
                </a:solidFill>
                <a:latin typeface="Pretendard"/>
              </a:rPr>
              <a:t>운영 개선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11091672" cy="1508760"/>
          </a:xfrm>
          <a:prstGeom prst="rect">
            <a:avLst/>
          </a:prstGeom>
          <a:solidFill>
            <a:srgbClr val="1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02352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onsolas"/>
              </a:rPr>
              <a:t>$ aegis report
  Calls: 1,243   ALLOW 1,198 · APPROVAL 38 · BLOCK 7
  Top risks: 4× destructive  ·  2× credential-leak  ·  1× cost spike
  Audit chain: ✓ intact, 12 sessions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3 가지 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Coach · Live · Doctor — 학습 → 모니터링 →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11880" cy="4251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0" i="0">
                <a:solidFill>
                  <a:srgbClr val="1A1E36"/>
                </a:solidFill>
                <a:latin typeface="Pretendard"/>
              </a:rPr>
              <a:t>🏋️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E2761"/>
                </a:solidFill>
                <a:latin typeface="Pretendard"/>
              </a:rPr>
              <a:t>ATV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F96167"/>
                </a:solidFill>
                <a:latin typeface="Pretendard"/>
              </a:rPr>
              <a:t>정상 패턴 학습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40480"/>
            <a:ext cx="45720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5단계 × 4 phase 자동 학습
Observation → Shadow →
Assisted →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611880" cy="4251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0" i="0">
                <a:solidFill>
                  <a:srgbClr val="1A1E36"/>
                </a:solidFill>
                <a:latin typeface="Pretendard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E2761"/>
                </a:solidFill>
                <a:latin typeface="Pretendard"/>
              </a:rPr>
              <a:t>ATV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F96167"/>
                </a:solidFill>
                <a:latin typeface="Pretendard"/>
              </a:rPr>
              <a:t>실시간 모니터링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840480"/>
            <a:ext cx="45720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Cost · Performance · Security
by agent / channel / provider
실시간 알림 daemon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611880" cy="4251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0" i="0">
                <a:solidFill>
                  <a:srgbClr val="1A1E36"/>
                </a:solidFill>
                <a:latin typeface="Pretendard"/>
              </a:rP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8892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E2761"/>
                </a:solidFill>
                <a:latin typeface="Pretendard"/>
              </a:rPr>
              <a:t>ATV Doctor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F96167"/>
                </a:solidFill>
                <a:latin typeface="Pretendard"/>
              </a:rPr>
              <a:t>사건 분석 · 진단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840480"/>
            <a:ext cx="45720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BLOCK 케이스 재현
8-advisor 권고
시간 되돌리기 (rollback)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PITCHDECK 의 5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ATV · ATMU · sLLM · Crypto-Sign · Burn-in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212848" cy="3108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8483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Pretendard"/>
              </a:rPr>
              <a:t>ATV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96167"/>
                </a:solidFill>
                <a:latin typeface="Pretendard"/>
              </a:rPr>
              <a:t>Agent Telemetry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84708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E36"/>
                </a:solidFill>
                <a:latin typeface="Pretendard"/>
              </a:rPr>
              <a:t>모든 행동을 2,048-D 벡터로 인코딩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1828800"/>
            <a:ext cx="2212848" cy="3108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273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08483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788920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Pretendard"/>
              </a:rPr>
              <a:t>ATMU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96167"/>
                </a:solidFill>
                <a:latin typeface="Pretendard"/>
              </a:rPr>
              <a:t>Trust Mgmt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57600"/>
            <a:ext cx="184708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E36"/>
                </a:solidFill>
                <a:latin typeface="Pretendard"/>
              </a:rPr>
              <a:t>16 단계 firewall — 실행 직전 정책 게이트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828800"/>
            <a:ext cx="2212848" cy="3108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9592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208483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788920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Pretendard"/>
              </a:rPr>
              <a:t>sLLM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96167"/>
                </a:solidFill>
                <a:latin typeface="Pretendard"/>
              </a:rPr>
              <a:t>Judgment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657600"/>
            <a:ext cx="184708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E36"/>
                </a:solidFill>
                <a:latin typeface="Pretendard"/>
              </a:rPr>
              <a:t>양자화 3B 로컬 — ambiguous 케이스 second opinion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9208" y="1828800"/>
            <a:ext cx="2212848" cy="3108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5644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08483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788920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Pretendard"/>
              </a:rPr>
              <a:t>Crypto-Sign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96167"/>
                </a:solidFill>
                <a:latin typeface="Pretendard"/>
              </a:rPr>
              <a:t>Tamper-Evident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3657600"/>
            <a:ext cx="184708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E36"/>
                </a:solidFill>
                <a:latin typeface="Pretendard"/>
              </a:rPr>
              <a:t>SHA3 + Ed25519 체인 — 1 명령 외부 감사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6064" y="1828800"/>
            <a:ext cx="2212848" cy="31089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33304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33304" y="208483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2788920"/>
            <a:ext cx="19385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Pretendard"/>
              </a:rPr>
              <a:t>Burn-in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96167"/>
                </a:solidFill>
                <a:latin typeface="Pretendard"/>
              </a:rPr>
              <a:t>Release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944" y="3657600"/>
            <a:ext cx="184708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E36"/>
                </a:solidFill>
                <a:latin typeface="Pretendard"/>
              </a:rPr>
              <a:t>1k+ 적대 시나리오 재현 — CI 게이트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1E2761"/>
                </a:solidFill>
                <a:latin typeface="Pretendard"/>
              </a:rPr>
              <a:t>표준 벡터 인코딩 → 정책 적용 → 로컬 AI 검토 → 서명 체인 기록 → 적대 시나리오 재검증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요금제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Solo Free · Pro · Team ·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Solo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무료 (영구)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90A8"/>
                </a:solidFill>
                <a:latin typeface="Pretendard"/>
              </a:rPr>
              <a:t>Apache-2.0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37560"/>
            <a:ext cx="36576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16-step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감사 체인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0A8"/>
                </a:solidFill>
                <a:latin typeface="Pretendard"/>
              </a:rPr>
              <a:t>✗ 8-advisor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0A8"/>
                </a:solidFill>
                <a:latin typeface="Pretendard"/>
              </a:rPr>
              <a:t>✗ sLLM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0A8"/>
                </a:solidFill>
                <a:latin typeface="Pretendard"/>
              </a:rPr>
              <a:t>✗ Sidecar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78308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96167"/>
                </a:solidFill>
                <a:latin typeface="Pretendard"/>
              </a:rPr>
              <a:t>$19/월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9260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90A8"/>
                </a:solidFill>
                <a:latin typeface="Pretendard"/>
              </a:rPr>
              <a:t>상용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3337560"/>
            <a:ext cx="36576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35204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16-step Firewall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감사 체인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8-advisor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46177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sLLM judge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49834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0A8"/>
                </a:solidFill>
                <a:latin typeface="Pretendard"/>
              </a:rPr>
              <a:t>✗ Sidecar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178308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$39/seat/월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9260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90A8"/>
                </a:solidFill>
                <a:latin typeface="Pretendard"/>
              </a:rPr>
              <a:t>상용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3136" y="3337560"/>
            <a:ext cx="36576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5204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16-step Firewall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감사 체인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8-advisor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6177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sLLM judge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49834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Sidecar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07424" y="1783080"/>
            <a:ext cx="2788920" cy="42062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1920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Pretendard"/>
              </a:rPr>
              <a:t>Enterprise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24231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Pretendard"/>
              </a:rPr>
              <a:t>별도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292608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90A8"/>
                </a:solidFill>
                <a:latin typeface="Pretendard"/>
              </a:rPr>
              <a:t>상용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56064" y="3337560"/>
            <a:ext cx="365760" cy="27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1744" y="35204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Team 전부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1744" y="38862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Haiku judge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1744" y="425196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우선 지원 + SLA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4" y="461772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보안 컨설팅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49834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✓ 커스텀 통합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통합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어떤 도구 · 환경에서 쓰나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E2761"/>
                </a:solidFill>
                <a:latin typeface="Pretendard"/>
              </a:rP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8A90A8"/>
                </a:solidFill>
                <a:latin typeface="Pretendard"/>
              </a:rPr>
              <a:t>가장 흔한 사용 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Consolas"/>
              </a:rPr>
              <a:t>uv run aegis install --mode local --profile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E2761"/>
                </a:solidFill>
                <a:latin typeface="Pretendard"/>
              </a:rPr>
              <a:t>→ ~/.claude/settings.json 자동 패치 + 모든 tool call 자동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E2761"/>
                </a:solidFill>
                <a:latin typeface="Pretendard"/>
              </a:rPr>
              <a:t>OpenClaw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50008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8A90A8"/>
                </a:solidFill>
                <a:latin typeface="Pretendard"/>
              </a:rPr>
              <a:t>멀티 채널 agent (Telegram · Discord · Slack)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Consolas"/>
              </a:rPr>
              <a:t>npm install @happyikas/openclaw-plugin-aegis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E2761"/>
                </a:solidFill>
                <a:latin typeface="Pretendard"/>
              </a:rPr>
              <a:t>→ before_tool_call 후크 + sidecar 자동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E2761"/>
                </a:solidFill>
                <a:latin typeface="Pretendard"/>
              </a:rPr>
              <a:t>OpenRouter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8A90A8"/>
                </a:solidFill>
                <a:latin typeface="Pretendard"/>
              </a:rPr>
              <a:t>300+ models · 60+ providers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Consolas"/>
              </a:rPr>
              <a:t>from aegis.integrations.openrouter import canonical_provider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E2761"/>
                </a:solidFill>
                <a:latin typeface="Pretendard"/>
              </a:rPr>
              <a:t>→ provider-drift advisor — 어느 provider 가 더 위험한지 정량화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0624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E2761"/>
                </a:solidFill>
                <a:latin typeface="Pretendard"/>
              </a:rPr>
              <a:t>Hermes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73168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8A90A8"/>
                </a:solidFill>
                <a:latin typeface="Pretendard"/>
              </a:rPr>
              <a:t>Self-improving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66360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Consolas"/>
              </a:rPr>
              <a:t>docs/integrations/hermes.md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8064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E2761"/>
                </a:solidFill>
                <a:latin typeface="Pretendard"/>
              </a:rPr>
              <a:t>→ 외부 감사 layer — self-improvement 의 cross-check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자주 묻는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비전문가가 가장 많이 묻는 4 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20"/>
            <a:ext cx="54864" cy="8686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Q. 내 데이터가 외부로 나가나요?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--mode local 사용 시 0 byte 외부 송신 없음. 감사 로그도 ~/.aegis/audit.jsonl 본인 머신만.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4864" cy="8686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Q. 너무 느리지 않을까요?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Solo Free 평균 5ms (dummy 룰). Pro/Team 평균 50ms (sLLM 포함, p95).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4864" cy="8686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Q. Claude 가 이미 안전 응답을 하는데 또 필요한가요?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Claude refuse 는 모델 출력 수준. Aegis 는 출력 이후 실제 tool 실행 직전에 한 번 더 검증 — below the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54864" cy="8686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Pretendard"/>
              </a:rPr>
              <a:t>Q. 감사 로그가 진짜 위조 불가능한가요?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Pretendard"/>
              </a:rPr>
              <a:t>네. SHA3 hash chain + Ed25519 서명. aegis verify-audit 한 명령으로 1초 안에 외부 검증 가능.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자주 발생하는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증상 → 원인 → 해결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A90A8"/>
                </a:solidFill>
                <a:latin typeface="Pretendard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A90A8"/>
                </a:solidFill>
                <a:latin typeface="Pretendard"/>
              </a:rPr>
              <a:t>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11091672" cy="54864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Claude Code 가 후크 무시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5856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Claude Code 재시작 필수. aegis status 로 settings.json 패치 상태 확인.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aegis verify-audit 실패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8529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감사 로그 수정 가능성. aegis forensic last → backup 으로 복원.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1091672" cy="54864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BLOCK 메시지 너무 많음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44728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Coach baseline 학습 부족. 1주일 AEGIS_BURNIN_SHADOW=1 후 train-m13.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Pro 활성 후에도 dummy judge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04164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echo $AEGIS_JUDGE_PROVIDER 확인. unset 또는 local-phi / haiku 설정.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11091672" cy="54864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3600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OpenRouter route 가 (no-provider) 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63600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canonical_provider() 헬퍼로 provider 문자열 생성하여 ATV header 에 stamp.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3036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한국어 메시지 깨짐 (Windows)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23036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Pretendard"/>
              </a:rPr>
              <a:t>터미널 UTF-8 설정: chcp 65001.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Pretendard"/>
              </a:rPr>
              <a:t>PITCHDECK "HARDWARE NEXT"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E2761"/>
                </a:solidFill>
                <a:latin typeface="Pretendard"/>
              </a:rPr>
              <a:t>ContextMemory + aegis doctor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8A90A8"/>
                </a:solidFill>
                <a:latin typeface="Pretendard"/>
              </a:rPr>
              <a:t>ATV 가 생성될 때마다 자동 저장 — CXL SSD / Computational SSD 의 software emulation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Pretendard"/>
              </a:rPr>
              <a:t>두 store 의 역할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074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1A1E36"/>
                </a:solidFill>
                <a:latin typeface="Consolas"/>
              </a:rPr>
              <a:t>audit.jsonl
  SHA3 + Ed25519 체인 (변조 증거)
context_memory.jsonl  ← 신규
  분석 fast-path. silicon 이행 시
  near-storage compute 의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376672" cy="228600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onsolas"/>
              </a:rPr>
              <a:t>$ aegis doctor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1A1E36"/>
                </a:solidFill>
                <a:latin typeface="Consolas"/>
              </a:rPr>
              <a:t>📊 요약 — ALLOW 96.4% / BLOCK 0.5%
💰 Cost  — $4.18 (94% Claude)
⚡ Perf  — p95 47ms ✓
🛡️ Sec  — step310 BLOCK 57%
→ markdown 리포트 + 휴리스틱 권고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6402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365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매 tool call 자동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Pretendard"/>
              </a:rPr>
              <a:t>ATV 생성 시점에 두 파일 동시 append (defensive)</a:t>
            </a:r>
          </a:p>
        </p:txBody>
      </p:sp>
      <p:sp>
        <p:nvSpPr>
          <p:cNvPr id="16" name="Oval 15"/>
          <p:cNvSpPr/>
          <p:nvPr/>
        </p:nvSpPr>
        <p:spPr>
          <a:xfrm>
            <a:off x="4306824" y="470916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476402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47365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3축 분석 + 권고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52120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Pretendard"/>
              </a:rPr>
              <a:t>Cost · Performance · Security 휴리스틱 advisor 11종 룰</a:t>
            </a:r>
          </a:p>
        </p:txBody>
      </p:sp>
      <p:sp>
        <p:nvSpPr>
          <p:cNvPr id="20" name="Oval 19"/>
          <p:cNvSpPr/>
          <p:nvPr/>
        </p:nvSpPr>
        <p:spPr>
          <a:xfrm>
            <a:off x="8065008" y="4709160"/>
            <a:ext cx="411480" cy="4114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476402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47365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Pretendard"/>
              </a:rPr>
              <a:t>silicon-ready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5212080"/>
            <a:ext cx="3611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E36"/>
                </a:solidFill>
                <a:latin typeface="Pretendard"/>
              </a:rPr>
              <a:t>Same schema = CXL/CSD 의 spec. host-Python 이 후일 in-storage 로 이행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Pretendard"/>
              </a:rPr>
              <a:t>Aegis ATV  사용 설명서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6019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Pretendard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7315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96167"/>
                </a:solidFill>
                <a:latin typeface="Pretendard"/>
              </a:rPr>
              <a:t>한 문장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Pretendard"/>
              </a:rPr>
              <a:t>"Aegis 는 당신의 AI 에이전트가 만드는 모든 행동을,
실행 직전에 검증하고, 영원히 위조 불가능한 기록으로
남기는 도구입니다."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CADCFC"/>
                </a:solidFill>
                <a:latin typeface="Pretendard"/>
              </a:rPr>
              <a:t>무료로 시작 · 노트북 밖으로 데이터 안 나감 · 한 명령으로 감사 가능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669280"/>
            <a:ext cx="8531352" cy="548640"/>
          </a:xfrm>
          <a:prstGeom prst="rect">
            <a:avLst/>
          </a:prstGeom>
          <a:solidFill>
            <a:srgbClr val="1A1E36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ADCFC"/>
                </a:solidFill>
                <a:latin typeface="Consolas"/>
              </a:rPr>
              <a:t>$ uv run aegis install --mode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Pretendard"/>
              </a:rPr>
              <a:t>GitHub: github.com/happyikas/Aegis-ATV  ·  aegisdata.ai  ·  datamonster@aegisdata.ai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