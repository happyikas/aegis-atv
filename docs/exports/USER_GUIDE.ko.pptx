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743200"/>
            <a:ext cx="731520" cy="73152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CADCFC"/>
                </a:solidFill>
                <a:latin typeface="Pretendard"/>
              </a:rPr>
              <a:t>AEGIS ATV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38328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000" b="1" i="0">
                <a:solidFill>
                  <a:srgbClr val="FFFFFF"/>
                </a:solidFill>
                <a:latin typeface="Pretendard"/>
              </a:rPr>
              <a:t>사용 설명서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26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0" i="0">
                <a:solidFill>
                  <a:srgbClr val="CADCFC"/>
                </a:solidFill>
                <a:latin typeface="Pretendard"/>
              </a:rPr>
              <a:t>AI 에이전트의 모든 행동을 실행 직전 검증하고 위조 불가능한 기록으로 남깁니다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>
                <a:solidFill>
                  <a:srgbClr val="CADCFC"/>
                </a:solidFill>
                <a:latin typeface="Pretendard"/>
              </a:rPr>
              <a:t>AegisData  ·  2026-05-15  ·  비전문가용 통합 가이드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F96167"/>
                </a:solidFill>
                <a:latin typeface="Pretendard"/>
              </a:rPr>
              <a:t>한 페이지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 i="0">
                <a:solidFill>
                  <a:srgbClr val="1E2761"/>
                </a:solidFill>
                <a:latin typeface="Pretendard"/>
              </a:rPr>
              <a:t>Aegis 는 무엇을 하는 도구입니까?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548640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0" i="0">
                <a:solidFill>
                  <a:srgbClr val="1A1E36"/>
                </a:solidFill>
                <a:latin typeface="Pretendard"/>
              </a:rPr>
              <a:t>AI 에이전트가 실수 또는 공격으로 시스템을 망가뜨리지 못하게 막고,
동시에 모든 행동을 위조 불가능한 기록으로 남기는 도구입니다.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108960"/>
            <a:ext cx="3611880" cy="219456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0" i="0">
                <a:solidFill>
                  <a:srgbClr val="1A1E36"/>
                </a:solidFill>
                <a:latin typeface="Pretendard"/>
              </a:rPr>
              <a:t>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02336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 i="0">
                <a:solidFill>
                  <a:srgbClr val="1E2761"/>
                </a:solidFill>
                <a:latin typeface="Pretendard"/>
              </a:rPr>
              <a:t>자물쇠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526280"/>
            <a:ext cx="30632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 i="0">
                <a:solidFill>
                  <a:srgbClr val="8A90A8"/>
                </a:solidFill>
                <a:latin typeface="Pretendard"/>
              </a:rPr>
              <a:t>위험한 명령을 실행 직전에 막습니다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3108960"/>
            <a:ext cx="3611880" cy="219456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320040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0" i="0">
                <a:solidFill>
                  <a:srgbClr val="1A1E36"/>
                </a:solidFill>
                <a:latin typeface="Pretendard"/>
              </a:rPr>
              <a:t>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02336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 i="0">
                <a:solidFill>
                  <a:srgbClr val="1E2761"/>
                </a:solidFill>
                <a:latin typeface="Pretendard"/>
              </a:rPr>
              <a:t>CCTV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526280"/>
            <a:ext cx="30632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 i="0">
                <a:solidFill>
                  <a:srgbClr val="8A90A8"/>
                </a:solidFill>
                <a:latin typeface="Pretendard"/>
              </a:rPr>
              <a:t>모든 행동을 시간 순서대로 기록합니다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3108960"/>
            <a:ext cx="3611880" cy="219456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320040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0" i="0">
                <a:solidFill>
                  <a:srgbClr val="1A1E36"/>
                </a:solidFill>
                <a:latin typeface="Pretendard"/>
              </a:rPr>
              <a:t>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02336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 i="0">
                <a:solidFill>
                  <a:srgbClr val="1E2761"/>
                </a:solidFill>
                <a:latin typeface="Pretendard"/>
              </a:rPr>
              <a:t>공증된 영수증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4526280"/>
            <a:ext cx="30632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 i="0">
                <a:solidFill>
                  <a:srgbClr val="8A90A8"/>
                </a:solidFill>
                <a:latin typeface="Pretendard"/>
              </a:rPr>
              <a:t>암호로 서명되어 위조 불가능합니다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60196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CADCFC"/>
                </a:solidFill>
                <a:latin typeface="Pretendard"/>
              </a:rPr>
              <a:t>Aegis ATV  사용 설명서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Pretendard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F96167"/>
                </a:solidFill>
                <a:latin typeface="Pretendard"/>
              </a:rPr>
              <a:t>어디에 끼어드나요?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 i="0">
                <a:solidFill>
                  <a:srgbClr val="1E2761"/>
                </a:solidFill>
                <a:latin typeface="Pretendard"/>
              </a:rPr>
              <a:t>"below the model" — 결정과 실행 사이의 chokepoint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548640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2194560"/>
            <a:ext cx="3291840" cy="1097280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59152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1E2761"/>
                </a:solidFill>
                <a:latin typeface="Pretendard"/>
              </a:rPr>
              <a:t>AI 에이전트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8A90A8"/>
                </a:solidFill>
                <a:latin typeface="Pretendard"/>
              </a:rPr>
              <a:t>Claude Code · OpenClaw · Codex · custom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2194560"/>
            <a:ext cx="3291840" cy="1097280"/>
          </a:xfrm>
          <a:prstGeom prst="rect">
            <a:avLst/>
          </a:prstGeom>
          <a:solidFill>
            <a:srgbClr val="F96167"/>
          </a:solidFill>
          <a:ln w="12700"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0" y="2359152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Pretendard"/>
              </a:rPr>
              <a:t>★ AEGIS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8346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Pretendard"/>
              </a:rPr>
              <a:t>16-step firewall · cryptographic audit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2194560"/>
            <a:ext cx="3291840" cy="1097280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359152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1E2761"/>
                </a:solidFill>
                <a:latin typeface="Pretendard"/>
              </a:rPr>
              <a:t>실제 도구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8346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8A90A8"/>
                </a:solidFill>
                <a:latin typeface="Pretendard"/>
              </a:rPr>
              <a:t>셸 · DB · API · 결제 · 파일시스템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886200" y="2606040"/>
            <a:ext cx="365760" cy="274320"/>
          </a:xfrm>
          <a:prstGeom prst="rightArrow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7635240" y="2606040"/>
            <a:ext cx="365760" cy="274320"/>
          </a:xfrm>
          <a:prstGeom prst="rightArrow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0233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 i="1">
                <a:solidFill>
                  <a:srgbClr val="1A1E36"/>
                </a:solidFill>
                <a:latin typeface="Pretendard"/>
              </a:rPr>
              <a:t>모델의 안전 응답 필터보다 한 단계 더 아래에서 작동합니다.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66344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800600"/>
            <a:ext cx="36118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1E2761"/>
                </a:solidFill>
                <a:latin typeface="Pretendard"/>
              </a:rPr>
              <a:t>&lt; 50ms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532120"/>
            <a:ext cx="3611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8A90A8"/>
                </a:solidFill>
                <a:latin typeface="Pretendard"/>
              </a:rPr>
              <a:t>정책 결정 지연 (p95)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0" y="466344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97680" y="4800600"/>
            <a:ext cx="36118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1E2761"/>
                </a:solidFill>
                <a:latin typeface="Pretendard"/>
              </a:rPr>
              <a:t>≥ 90%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5532120"/>
            <a:ext cx="3611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8A90A8"/>
                </a:solidFill>
                <a:latin typeface="Pretendard"/>
              </a:rPr>
              <a:t>공격 차단율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0" y="466344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0" y="4800600"/>
            <a:ext cx="36118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1E2761"/>
                </a:solidFill>
                <a:latin typeface="Pretendard"/>
              </a:rPr>
              <a:t>1 cmd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532120"/>
            <a:ext cx="3611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8A90A8"/>
                </a:solidFill>
                <a:latin typeface="Pretendard"/>
              </a:rPr>
              <a:t>외부 감사 가능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660196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CADCFC"/>
                </a:solidFill>
                <a:latin typeface="Pretendard"/>
              </a:rPr>
              <a:t>Aegis ATV  사용 설명서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Pretendard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F96167"/>
                </a:solidFill>
                <a:latin typeface="Pretendard"/>
              </a:rPr>
              <a:t>어떤 사람에게 필요한가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 i="0">
                <a:solidFill>
                  <a:srgbClr val="1E2761"/>
                </a:solidFill>
                <a:latin typeface="Pretendard"/>
              </a:rPr>
              <a:t>5 가지 사용자 페르소나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548640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94360" y="1947672"/>
            <a:ext cx="594360" cy="59436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993392"/>
            <a:ext cx="5943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Pretendard"/>
              </a:rPr>
              <a:t>🧑‍💻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8745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E2761"/>
                </a:solidFill>
                <a:latin typeface="Pretendard"/>
              </a:rPr>
              <a:t>Claude Code 일상 사용 개발자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212848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 i="0">
                <a:solidFill>
                  <a:srgbClr val="1A1E36"/>
                </a:solidFill>
                <a:latin typeface="Pretendard"/>
              </a:rPr>
              <a:t>위험한 파일 삭제 자동 차단 + 모든 작업 자동 기록</a:t>
            </a:r>
          </a:p>
        </p:txBody>
      </p:sp>
      <p:sp>
        <p:nvSpPr>
          <p:cNvPr id="9" name="Oval 8"/>
          <p:cNvSpPr/>
          <p:nvPr/>
        </p:nvSpPr>
        <p:spPr>
          <a:xfrm>
            <a:off x="594360" y="2788920"/>
            <a:ext cx="594360" cy="59436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834640"/>
            <a:ext cx="5943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Pretendard"/>
              </a:rPr>
              <a:t>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71576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E2761"/>
                </a:solidFill>
                <a:latin typeface="Pretendard"/>
              </a:rPr>
              <a:t>병원 · 금융 · 정부 규제 산업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054096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 i="0">
                <a:solidFill>
                  <a:srgbClr val="1A1E36"/>
                </a:solidFill>
                <a:latin typeface="Pretendard"/>
              </a:rPr>
              <a:t>EU AI Act · HIPAA · SOC 2 가 요구하는 변조 불가 감사 로그</a:t>
            </a:r>
          </a:p>
        </p:txBody>
      </p:sp>
      <p:sp>
        <p:nvSpPr>
          <p:cNvPr id="13" name="Oval 12"/>
          <p:cNvSpPr/>
          <p:nvPr/>
        </p:nvSpPr>
        <p:spPr>
          <a:xfrm>
            <a:off x="594360" y="3630168"/>
            <a:ext cx="594360" cy="59436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675888"/>
            <a:ext cx="5943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Pretendard"/>
              </a:rPr>
              <a:t>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557016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E2761"/>
                </a:solidFill>
                <a:latin typeface="Pretendard"/>
              </a:rPr>
              <a:t>AI 에이전트를 만드는 개발자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895344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 i="0">
                <a:solidFill>
                  <a:srgbClr val="1A1E36"/>
                </a:solidFill>
                <a:latin typeface="Pretendard"/>
              </a:rPr>
              <a:t>OpenClaw · 자체 프레임워크에 보안 + 감사 layer 한 줄로</a:t>
            </a:r>
          </a:p>
        </p:txBody>
      </p:sp>
      <p:sp>
        <p:nvSpPr>
          <p:cNvPr id="17" name="Oval 16"/>
          <p:cNvSpPr/>
          <p:nvPr/>
        </p:nvSpPr>
        <p:spPr>
          <a:xfrm>
            <a:off x="594360" y="4471416"/>
            <a:ext cx="594360" cy="59436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4517136"/>
            <a:ext cx="5943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Pretendard"/>
              </a:rPr>
              <a:t>🛡️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39826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E2761"/>
                </a:solidFill>
                <a:latin typeface="Pretendard"/>
              </a:rPr>
              <a:t>기업 보안 · 컴플라이언스 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4736592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 i="0">
                <a:solidFill>
                  <a:srgbClr val="1A1E36"/>
                </a:solidFill>
                <a:latin typeface="Pretendard"/>
              </a:rPr>
              <a:t>여러 AI 도구 × 여러 LLM provider 의 행동을 하나의 대시보드</a:t>
            </a:r>
          </a:p>
        </p:txBody>
      </p:sp>
      <p:sp>
        <p:nvSpPr>
          <p:cNvPr id="21" name="Oval 20"/>
          <p:cNvSpPr/>
          <p:nvPr/>
        </p:nvSpPr>
        <p:spPr>
          <a:xfrm>
            <a:off x="594360" y="5312664"/>
            <a:ext cx="594360" cy="59436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358384"/>
            <a:ext cx="5943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Pretendard"/>
              </a:rPr>
              <a:t>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5239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E2761"/>
                </a:solidFill>
                <a:latin typeface="Pretendard"/>
              </a:rPr>
              <a:t>Multi-LLM 환경 운영자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5577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 i="0">
                <a:solidFill>
                  <a:srgbClr val="1A1E36"/>
                </a:solidFill>
                <a:latin typeface="Pretendard"/>
              </a:rPr>
              <a:t>OpenRouter 환경에서 어느 provider 가 더 위험한지 정량 측정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60196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CADCFC"/>
                </a:solidFill>
                <a:latin typeface="Pretendard"/>
              </a:rPr>
              <a:t>Aegis ATV  사용 설명서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Pretendard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F96167"/>
                </a:solidFill>
                <a:latin typeface="Pretendard"/>
              </a:rPr>
              <a:t>한 시나리오로 보는 동작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 i="0">
                <a:solidFill>
                  <a:srgbClr val="1E2761"/>
                </a:solidFill>
                <a:latin typeface="Pretendard"/>
              </a:rPr>
              <a:t>삭제 사고 방지 — Aegis 없을 때 vs 있을 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548640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486400" cy="4206240"/>
          </a:xfrm>
          <a:prstGeom prst="roundRect">
            <a:avLst>
              <a:gd name="adj" fmla="val 8000"/>
            </a:avLst>
          </a:prstGeom>
          <a:solidFill>
            <a:srgbClr val="FDE9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74519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 i="0">
                <a:solidFill>
                  <a:srgbClr val="F96167"/>
                </a:solidFill>
                <a:latin typeface="Pretendard"/>
              </a:rPr>
              <a:t>❌  Aegis 없이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68880"/>
            <a:ext cx="51206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 i="0">
                <a:solidFill>
                  <a:srgbClr val="1A1E36"/>
                </a:solidFill>
                <a:latin typeface="Consolas"/>
              </a:rPr>
              <a:t>사용자: "tmp 정리해줘"
Claude:  → 시스템 폴더 대상 재귀 삭제 명령
        → 실행됨
→ 시스템 망가짐 ❌
→ 사후 분석 자료 없음 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737360"/>
            <a:ext cx="5486400" cy="4206240"/>
          </a:xfrm>
          <a:prstGeom prst="roundRect">
            <a:avLst>
              <a:gd name="adj" fmla="val 8000"/>
            </a:avLst>
          </a:prstGeom>
          <a:solidFill>
            <a:srgbClr val="E6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874519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 i="0">
                <a:solidFill>
                  <a:srgbClr val="14774A"/>
                </a:solidFill>
                <a:latin typeface="Pretendard"/>
              </a:rPr>
              <a:t>✓  Aegis 와 함께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468880"/>
            <a:ext cx="51206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 i="0">
                <a:solidFill>
                  <a:srgbClr val="1A1E36"/>
                </a:solidFill>
                <a:latin typeface="Consolas"/>
              </a:rPr>
              <a:t>사용자: "tmp 정리해줘"
Claude:  → 같은 위험 명령 시도
Aegis:   ⛔ BLOCK trace=abc123 (45ms)
         reason: dangerous pattern
         advise: security-reviewer
→ 안 망가짐 ✓
→ audit log 에 시도 영구 기록 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CADCFC"/>
                </a:solidFill>
                <a:latin typeface="Pretendard"/>
              </a:rPr>
              <a:t>Aegis ATV  사용 설명서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Pretendard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F96167"/>
                </a:solidFill>
                <a:latin typeface="Pretendard"/>
              </a:rPr>
              <a:t>5분 설치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 i="0">
                <a:solidFill>
                  <a:srgbClr val="1E2761"/>
                </a:solidFill>
                <a:latin typeface="Pretendard"/>
              </a:rPr>
              <a:t>4 가지 설치 옵션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548640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532120" cy="224028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01952"/>
            <a:ext cx="5074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 i="0">
                <a:solidFill>
                  <a:srgbClr val="1E2761"/>
                </a:solidFill>
                <a:latin typeface="Pretendard"/>
              </a:rPr>
              <a:t>A · Solo 개발자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23160"/>
            <a:ext cx="50749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>
                <a:solidFill>
                  <a:srgbClr val="1A1E36"/>
                </a:solidFill>
                <a:latin typeface="Consolas"/>
              </a:rPr>
              <a:t>git clone https://github.com/happyikas/Aegis-ATV.git
cd Aegis-ATV &amp;&amp; uv sync
uv run aegis install --mode local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737360"/>
            <a:ext cx="5532120" cy="224028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01952"/>
            <a:ext cx="5074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 i="0">
                <a:solidFill>
                  <a:srgbClr val="1E2761"/>
                </a:solidFill>
                <a:latin typeface="Pretendard"/>
              </a:rPr>
              <a:t>B · 한 줄 설치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0749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>
                <a:solidFill>
                  <a:srgbClr val="1A1E36"/>
                </a:solidFill>
                <a:latin typeface="Consolas"/>
              </a:rPr>
              <a:t>curl -LsSf https://raw.githubusercontent.com/
  happyikas/Aegis-ATV/main/scripts/install.sh | bash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60520"/>
            <a:ext cx="5532120" cy="224028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25112"/>
            <a:ext cx="5074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 i="0">
                <a:solidFill>
                  <a:srgbClr val="1E2761"/>
                </a:solidFill>
                <a:latin typeface="Pretendard"/>
              </a:rPr>
              <a:t>C · Mac (Homebrew)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46320"/>
            <a:ext cx="50749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>
                <a:solidFill>
                  <a:srgbClr val="1A1E36"/>
                </a:solidFill>
                <a:latin typeface="Consolas"/>
              </a:rPr>
              <a:t>brew tap happyikas/aegis \
  https://github.com/happyikas/Aegis-ATV.git
brew install happyikas/aegis/aegis
aegis install --mode local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4160520"/>
            <a:ext cx="5532120" cy="224028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325112"/>
            <a:ext cx="5074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 i="0">
                <a:solidFill>
                  <a:srgbClr val="1E2761"/>
                </a:solidFill>
                <a:latin typeface="Pretendard"/>
              </a:rPr>
              <a:t>D · 기업 · 멀티 사용자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4846320"/>
            <a:ext cx="50749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>
                <a:solidFill>
                  <a:srgbClr val="1A1E36"/>
                </a:solidFill>
                <a:latin typeface="Consolas"/>
              </a:rPr>
              <a:t>docker compose up -d
# localhost:8000 FastAPI 가동
# 멀티 클라이언트가 이 service 검증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660196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CADCFC"/>
                </a:solidFill>
                <a:latin typeface="Pretendard"/>
              </a:rPr>
              <a:t>Aegis ATV  사용 설명서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Pretendard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F96167"/>
                </a:solidFill>
                <a:latin typeface="Pretendard"/>
              </a:rPr>
              <a:t>처음 5 가지 명령어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 i="0">
                <a:solidFill>
                  <a:srgbClr val="1E2761"/>
                </a:solidFill>
                <a:latin typeface="Pretendard"/>
              </a:rPr>
              <a:t>설치 후 가장 먼저 익혀야 할 명령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548640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8A90A8"/>
                </a:solidFill>
                <a:latin typeface="Pretendard"/>
              </a:rPr>
              <a:t>명령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0" y="1737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8A90A8"/>
                </a:solidFill>
                <a:latin typeface="Pretendard"/>
              </a:rPr>
              <a:t>설명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0" y="17373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8A90A8"/>
                </a:solidFill>
                <a:latin typeface="Pretendard"/>
              </a:rPr>
              <a:t>언제 쓰나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03120"/>
            <a:ext cx="11091672" cy="457200"/>
          </a:xfrm>
          <a:prstGeom prst="rect">
            <a:avLst/>
          </a:prstGeom>
          <a:solidFill>
            <a:srgbClr val="F6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17627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1E2761"/>
                </a:solidFill>
                <a:latin typeface="Consolas"/>
              </a:rPr>
              <a:t>aegis status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17627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 i="0">
                <a:solidFill>
                  <a:srgbClr val="1A1E36"/>
                </a:solidFill>
                <a:latin typeface="Pretendard"/>
              </a:rPr>
              <a:t>설치 상태 + 운영 통계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217627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 i="1">
                <a:solidFill>
                  <a:srgbClr val="8A90A8"/>
                </a:solidFill>
                <a:latin typeface="Pretendard"/>
              </a:rPr>
              <a:t>매일 첫 명령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67919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1E2761"/>
                </a:solidFill>
                <a:latin typeface="Consolas"/>
              </a:rPr>
              <a:t>aegis report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267919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 i="0">
                <a:solidFill>
                  <a:srgbClr val="1A1E36"/>
                </a:solidFill>
                <a:latin typeface="Pretendard"/>
              </a:rPr>
              <a:t>최근 24h 위험 요약 (5줄)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267919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 i="1">
                <a:solidFill>
                  <a:srgbClr val="8A90A8"/>
                </a:solidFill>
                <a:latin typeface="Pretendard"/>
              </a:rPr>
              <a:t>매일 / 매주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108960"/>
            <a:ext cx="11091672" cy="457200"/>
          </a:xfrm>
          <a:prstGeom prst="rect">
            <a:avLst/>
          </a:prstGeom>
          <a:solidFill>
            <a:srgbClr val="F6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1821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1E2761"/>
                </a:solidFill>
                <a:latin typeface="Consolas"/>
              </a:rPr>
              <a:t>aegis verify-audit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31821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 i="0">
                <a:solidFill>
                  <a:srgbClr val="1A1E36"/>
                </a:solidFill>
                <a:latin typeface="Pretendard"/>
              </a:rPr>
              <a:t>감사 체인 무결성 검증 (1s)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31821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 i="1">
                <a:solidFill>
                  <a:srgbClr val="8A90A8"/>
                </a:solidFill>
                <a:latin typeface="Pretendard"/>
              </a:rPr>
              <a:t>사건 의심 / 매주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68503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1E2761"/>
                </a:solidFill>
                <a:latin typeface="Consolas"/>
              </a:rPr>
              <a:t>aegis forensic last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368503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 i="0">
                <a:solidFill>
                  <a:srgbClr val="1A1E36"/>
                </a:solidFill>
                <a:latin typeface="Pretendard"/>
              </a:rPr>
              <a:t>최근 BLOCK 케이스 분석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368503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 i="1">
                <a:solidFill>
                  <a:srgbClr val="8A90A8"/>
                </a:solidFill>
                <a:latin typeface="Pretendard"/>
              </a:rPr>
              <a:t>왜 차단됐지?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114800"/>
            <a:ext cx="11091672" cy="457200"/>
          </a:xfrm>
          <a:prstGeom prst="rect">
            <a:avLst/>
          </a:prstGeom>
          <a:solidFill>
            <a:srgbClr val="F6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18795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1E2761"/>
                </a:solidFill>
                <a:latin typeface="Consolas"/>
              </a:rPr>
              <a:t>aegis advise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418795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 i="0">
                <a:solidFill>
                  <a:srgbClr val="1A1E36"/>
                </a:solidFill>
                <a:latin typeface="Pretendard"/>
              </a:rPr>
              <a:t>advisor 권고 종합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0" y="418795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 i="1">
                <a:solidFill>
                  <a:srgbClr val="8A90A8"/>
                </a:solidFill>
                <a:latin typeface="Pretendard"/>
              </a:rPr>
              <a:t>운영 개선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937760"/>
            <a:ext cx="11091672" cy="1508760"/>
          </a:xfrm>
          <a:prstGeom prst="rect">
            <a:avLst/>
          </a:prstGeom>
          <a:solidFill>
            <a:srgbClr val="1A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102352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>
                <a:solidFill>
                  <a:srgbClr val="CADCFC"/>
                </a:solidFill>
                <a:latin typeface="Consolas"/>
              </a:rPr>
              <a:t>$ aegis report
  Calls: 1,243   ALLOW 1,198 · APPROVAL 38 · BLOCK 7
  Top risks: 4× destructive  ·  2× credential-leak  ·  1× cost spike
  Audit chain: ✓ intact, 12 sessions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660196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CADCFC"/>
                </a:solidFill>
                <a:latin typeface="Pretendard"/>
              </a:rPr>
              <a:t>Aegis ATV  사용 설명서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Pretendard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F96167"/>
                </a:solidFill>
                <a:latin typeface="Pretendard"/>
              </a:rPr>
              <a:t>3 가지 핵심 기능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 i="0">
                <a:solidFill>
                  <a:srgbClr val="1E2761"/>
                </a:solidFill>
                <a:latin typeface="Pretendard"/>
              </a:rPr>
              <a:t>Coach · Live · Doctor — 학습 → 모니터링 → 진단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548640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3611880" cy="425196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914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0" i="0">
                <a:solidFill>
                  <a:srgbClr val="1A1E36"/>
                </a:solidFill>
                <a:latin typeface="Pretendard"/>
              </a:rPr>
              <a:t>🏋️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8892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 i="0">
                <a:solidFill>
                  <a:srgbClr val="1E2761"/>
                </a:solidFill>
                <a:latin typeface="Pretendard"/>
              </a:rPr>
              <a:t>ATV Coach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37560"/>
            <a:ext cx="3063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 i="1">
                <a:solidFill>
                  <a:srgbClr val="F96167"/>
                </a:solidFill>
                <a:latin typeface="Pretendard"/>
              </a:rPr>
              <a:t>정상 패턴 학습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840480"/>
            <a:ext cx="457200" cy="2743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023360"/>
            <a:ext cx="30632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 i="0">
                <a:solidFill>
                  <a:srgbClr val="1A1E36"/>
                </a:solidFill>
                <a:latin typeface="Pretendard"/>
              </a:rPr>
              <a:t>5단계 × 4 phase 자동 학습
Observation → Shadow →
Assisted → Production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783080"/>
            <a:ext cx="3611880" cy="425196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65960"/>
            <a:ext cx="914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0" i="0">
                <a:solidFill>
                  <a:srgbClr val="1A1E36"/>
                </a:solidFill>
                <a:latin typeface="Pretendard"/>
              </a:rPr>
              <a:t>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78892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 i="0">
                <a:solidFill>
                  <a:srgbClr val="1E2761"/>
                </a:solidFill>
                <a:latin typeface="Pretendard"/>
              </a:rPr>
              <a:t>ATV Live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337560"/>
            <a:ext cx="3063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 i="1">
                <a:solidFill>
                  <a:srgbClr val="F96167"/>
                </a:solidFill>
                <a:latin typeface="Pretendard"/>
              </a:rPr>
              <a:t>실시간 모니터링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0" y="3840480"/>
            <a:ext cx="457200" cy="2743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4023360"/>
            <a:ext cx="30632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 i="0">
                <a:solidFill>
                  <a:srgbClr val="1A1E36"/>
                </a:solidFill>
                <a:latin typeface="Pretendard"/>
              </a:rPr>
              <a:t>Cost · Performance · Security
by agent / channel / provider
실시간 알림 daemon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1783080"/>
            <a:ext cx="3611880" cy="425196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965960"/>
            <a:ext cx="914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0" i="0">
                <a:solidFill>
                  <a:srgbClr val="1A1E36"/>
                </a:solidFill>
                <a:latin typeface="Pretendard"/>
              </a:rPr>
              <a:t>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78892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 i="0">
                <a:solidFill>
                  <a:srgbClr val="1E2761"/>
                </a:solidFill>
                <a:latin typeface="Pretendard"/>
              </a:rPr>
              <a:t>ATV Doctor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337560"/>
            <a:ext cx="3063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 i="1">
                <a:solidFill>
                  <a:srgbClr val="F96167"/>
                </a:solidFill>
                <a:latin typeface="Pretendard"/>
              </a:rPr>
              <a:t>사건 분석 · 진단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21040" y="3840480"/>
            <a:ext cx="457200" cy="2743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4023360"/>
            <a:ext cx="30632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 i="0">
                <a:solidFill>
                  <a:srgbClr val="1A1E36"/>
                </a:solidFill>
                <a:latin typeface="Pretendard"/>
              </a:rPr>
              <a:t>BLOCK 케이스 재현
8-advisor 권고
시간 되돌리기 (rollback)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660196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CADCFC"/>
                </a:solidFill>
                <a:latin typeface="Pretendard"/>
              </a:rPr>
              <a:t>Aegis ATV  사용 설명서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Pretendard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F96167"/>
                </a:solidFill>
                <a:latin typeface="Pretendard"/>
              </a:rPr>
              <a:t>PITCHDECK 의 5 기술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 i="0">
                <a:solidFill>
                  <a:srgbClr val="1E2761"/>
                </a:solidFill>
                <a:latin typeface="Pretendard"/>
              </a:rPr>
              <a:t>ATV · ATMU · sLLM · Crypto-Sign · Burn-in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548640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212848" cy="310896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25880" y="2011680"/>
            <a:ext cx="640080" cy="64008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2084831"/>
            <a:ext cx="640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788920"/>
            <a:ext cx="193852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1E2761"/>
                </a:solidFill>
                <a:latin typeface="Pretendard"/>
              </a:rPr>
              <a:t>ATV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00400"/>
            <a:ext cx="19385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F96167"/>
                </a:solidFill>
                <a:latin typeface="Pretendard"/>
              </a:rPr>
              <a:t>Agent Telemetry Vector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657600"/>
            <a:ext cx="1847088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1A1E36"/>
                </a:solidFill>
                <a:latin typeface="Pretendard"/>
              </a:rPr>
              <a:t>모든 행동을 2,048-D 벡터로 인코딩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25496" y="1828800"/>
            <a:ext cx="2212848" cy="310896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02736" y="2011680"/>
            <a:ext cx="640080" cy="64008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02736" y="2084831"/>
            <a:ext cx="640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62656" y="2788920"/>
            <a:ext cx="193852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1E2761"/>
                </a:solidFill>
                <a:latin typeface="Pretendard"/>
              </a:rPr>
              <a:t>ATMU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62656" y="3200400"/>
            <a:ext cx="19385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F96167"/>
                </a:solidFill>
                <a:latin typeface="Pretendard"/>
              </a:rPr>
              <a:t>Trust Mgmt Unit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08376" y="3657600"/>
            <a:ext cx="1847088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1A1E36"/>
                </a:solidFill>
                <a:latin typeface="Pretendard"/>
              </a:rPr>
              <a:t>16 단계 firewall — 실행 직전 정책 게이트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02352" y="1828800"/>
            <a:ext cx="2212848" cy="310896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879592" y="2011680"/>
            <a:ext cx="640080" cy="64008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79592" y="2084831"/>
            <a:ext cx="640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9512" y="2788920"/>
            <a:ext cx="193852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1E2761"/>
                </a:solidFill>
                <a:latin typeface="Pretendard"/>
              </a:rPr>
              <a:t>sLLM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9512" y="3200400"/>
            <a:ext cx="19385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F96167"/>
                </a:solidFill>
                <a:latin typeface="Pretendard"/>
              </a:rPr>
              <a:t>Judgment Engine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85232" y="3657600"/>
            <a:ext cx="1847088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1A1E36"/>
                </a:solidFill>
                <a:latin typeface="Pretendard"/>
              </a:rPr>
              <a:t>양자화 3B 로컬 — ambiguous 케이스 second opinion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79208" y="1828800"/>
            <a:ext cx="2212848" cy="310896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156448" y="2011680"/>
            <a:ext cx="640080" cy="64008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56448" y="2084831"/>
            <a:ext cx="640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16368" y="2788920"/>
            <a:ext cx="193852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1E2761"/>
                </a:solidFill>
                <a:latin typeface="Pretendard"/>
              </a:rPr>
              <a:t>Crypto-Sign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16368" y="3200400"/>
            <a:ext cx="19385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F96167"/>
                </a:solidFill>
                <a:latin typeface="Pretendard"/>
              </a:rPr>
              <a:t>Tamper-Evident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62088" y="3657600"/>
            <a:ext cx="1847088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1A1E36"/>
                </a:solidFill>
                <a:latin typeface="Pretendard"/>
              </a:rPr>
              <a:t>SHA3 + Ed25519 체인 — 1 명령 외부 감사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56064" y="1828800"/>
            <a:ext cx="2212848" cy="310896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433304" y="2011680"/>
            <a:ext cx="640080" cy="64008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433304" y="2084831"/>
            <a:ext cx="640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Pretendard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93224" y="2788920"/>
            <a:ext cx="193852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1E2761"/>
                </a:solidFill>
                <a:latin typeface="Pretendard"/>
              </a:rPr>
              <a:t>Burn-in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93224" y="3200400"/>
            <a:ext cx="19385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F96167"/>
                </a:solidFill>
                <a:latin typeface="Pretendard"/>
              </a:rPr>
              <a:t>Release Gate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38944" y="3657600"/>
            <a:ext cx="1847088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1A1E36"/>
                </a:solidFill>
                <a:latin typeface="Pretendard"/>
              </a:rPr>
              <a:t>1k+ 적대 시나리오 재현 — CI 게이트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349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1E2761"/>
                </a:solidFill>
                <a:latin typeface="Pretendard"/>
              </a:rPr>
              <a:t>표준 벡터 인코딩 → 정책 적용 → 로컬 AI 검토 → 서명 체인 기록 → 적대 시나리오 재검증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660196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CADCFC"/>
                </a:solidFill>
                <a:latin typeface="Pretendard"/>
              </a:rPr>
              <a:t>Aegis ATV  사용 설명서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Pretendard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F96167"/>
                </a:solidFill>
                <a:latin typeface="Pretendard"/>
              </a:rPr>
              <a:t>요금제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 i="0">
                <a:solidFill>
                  <a:srgbClr val="1E2761"/>
                </a:solidFill>
                <a:latin typeface="Pretendard"/>
              </a:rPr>
              <a:t>Solo Free · Pro · Team · Enterprise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548640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2788920" cy="420624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1E2761"/>
                </a:solidFill>
                <a:latin typeface="Pretendard"/>
              </a:rPr>
              <a:t>Solo Free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1E2761"/>
                </a:solidFill>
                <a:latin typeface="Pretendard"/>
              </a:rPr>
              <a:t>무료 (영구)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26080"/>
            <a:ext cx="2423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8A90A8"/>
                </a:solidFill>
                <a:latin typeface="Pretendard"/>
              </a:rPr>
              <a:t>Apache-2.0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337560"/>
            <a:ext cx="365760" cy="2743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52044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>
                <a:solidFill>
                  <a:srgbClr val="1A1E36"/>
                </a:solidFill>
                <a:latin typeface="Pretendard"/>
              </a:rPr>
              <a:t>✓ 16-step Firewall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88620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>
                <a:solidFill>
                  <a:srgbClr val="1A1E36"/>
                </a:solidFill>
                <a:latin typeface="Pretendard"/>
              </a:rPr>
              <a:t>✓ 감사 체인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25196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>
                <a:solidFill>
                  <a:srgbClr val="8A90A8"/>
                </a:solidFill>
                <a:latin typeface="Pretendard"/>
              </a:rPr>
              <a:t>✗ 8-advisor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61772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>
                <a:solidFill>
                  <a:srgbClr val="8A90A8"/>
                </a:solidFill>
                <a:latin typeface="Pretendard"/>
              </a:rPr>
              <a:t>✗ sLLM judge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98348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>
                <a:solidFill>
                  <a:srgbClr val="8A90A8"/>
                </a:solidFill>
                <a:latin typeface="Pretendard"/>
              </a:rPr>
              <a:t>✗ Sidecar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01568" y="1783080"/>
            <a:ext cx="2788920" cy="4206240"/>
          </a:xfrm>
          <a:prstGeom prst="roundRect">
            <a:avLst>
              <a:gd name="adj" fmla="val 8000"/>
            </a:avLst>
          </a:prstGeom>
          <a:solidFill>
            <a:srgbClr val="CADCFC"/>
          </a:solidFill>
          <a:ln w="12700">
            <a:solidFill>
              <a:srgbClr val="F961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4448" y="192024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1E2761"/>
                </a:solidFill>
                <a:latin typeface="Pretendard"/>
              </a:rPr>
              <a:t>Pro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242316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96167"/>
                </a:solidFill>
                <a:latin typeface="Pretendard"/>
              </a:rPr>
              <a:t>$19/월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4448" y="2926080"/>
            <a:ext cx="2423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8A90A8"/>
                </a:solidFill>
                <a:latin typeface="Pretendard"/>
              </a:rPr>
              <a:t>상용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50208" y="3337560"/>
            <a:ext cx="365760" cy="2743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75888" y="352044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>
                <a:solidFill>
                  <a:srgbClr val="1A1E36"/>
                </a:solidFill>
                <a:latin typeface="Pretendard"/>
              </a:rPr>
              <a:t>✓ 16-step Firewall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75888" y="388620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>
                <a:solidFill>
                  <a:srgbClr val="1A1E36"/>
                </a:solidFill>
                <a:latin typeface="Pretendard"/>
              </a:rPr>
              <a:t>✓ 감사 체인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75888" y="425196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>
                <a:solidFill>
                  <a:srgbClr val="1A1E36"/>
                </a:solidFill>
                <a:latin typeface="Pretendard"/>
              </a:rPr>
              <a:t>✓ 8-advisor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75888" y="461772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>
                <a:solidFill>
                  <a:srgbClr val="1A1E36"/>
                </a:solidFill>
                <a:latin typeface="Pretendard"/>
              </a:rPr>
              <a:t>✓ sLLM judge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75888" y="498348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>
                <a:solidFill>
                  <a:srgbClr val="8A90A8"/>
                </a:solidFill>
                <a:latin typeface="Pretendard"/>
              </a:rPr>
              <a:t>✗ Sidecar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54496" y="1783080"/>
            <a:ext cx="2788920" cy="420624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7376" y="192024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1E2761"/>
                </a:solidFill>
                <a:latin typeface="Pretendard"/>
              </a:rPr>
              <a:t>Team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242316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1E2761"/>
                </a:solidFill>
                <a:latin typeface="Pretendard"/>
              </a:rPr>
              <a:t>$39/seat/월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37376" y="2926080"/>
            <a:ext cx="2423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8A90A8"/>
                </a:solidFill>
                <a:latin typeface="Pretendard"/>
              </a:rPr>
              <a:t>상용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03136" y="3337560"/>
            <a:ext cx="365760" cy="2743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28816" y="352044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>
                <a:solidFill>
                  <a:srgbClr val="1A1E36"/>
                </a:solidFill>
                <a:latin typeface="Pretendard"/>
              </a:rPr>
              <a:t>✓ 16-step Firewall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28816" y="388620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>
                <a:solidFill>
                  <a:srgbClr val="1A1E36"/>
                </a:solidFill>
                <a:latin typeface="Pretendard"/>
              </a:rPr>
              <a:t>✓ 감사 체인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28816" y="425196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>
                <a:solidFill>
                  <a:srgbClr val="1A1E36"/>
                </a:solidFill>
                <a:latin typeface="Pretendard"/>
              </a:rPr>
              <a:t>✓ 8-advisor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28816" y="461772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>
                <a:solidFill>
                  <a:srgbClr val="1A1E36"/>
                </a:solidFill>
                <a:latin typeface="Pretendard"/>
              </a:rPr>
              <a:t>✓ sLLM judge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28816" y="498348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>
                <a:solidFill>
                  <a:srgbClr val="1A1E36"/>
                </a:solidFill>
                <a:latin typeface="Pretendard"/>
              </a:rPr>
              <a:t>✓ Sidecar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07424" y="1783080"/>
            <a:ext cx="2788920" cy="420624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90304" y="192024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1E2761"/>
                </a:solidFill>
                <a:latin typeface="Pretendard"/>
              </a:rPr>
              <a:t>Enterprise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90304" y="242316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1E2761"/>
                </a:solidFill>
                <a:latin typeface="Pretendard"/>
              </a:rPr>
              <a:t>별도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90304" y="2926080"/>
            <a:ext cx="2423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8A90A8"/>
                </a:solidFill>
                <a:latin typeface="Pretendard"/>
              </a:rPr>
              <a:t>상용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656064" y="3337560"/>
            <a:ext cx="365760" cy="2743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81744" y="352044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>
                <a:solidFill>
                  <a:srgbClr val="1A1E36"/>
                </a:solidFill>
                <a:latin typeface="Pretendard"/>
              </a:rPr>
              <a:t>✓ Team 전부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81744" y="388620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>
                <a:solidFill>
                  <a:srgbClr val="1A1E36"/>
                </a:solidFill>
                <a:latin typeface="Pretendard"/>
              </a:rPr>
              <a:t>✓ Haiku judge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81744" y="425196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>
                <a:solidFill>
                  <a:srgbClr val="1A1E36"/>
                </a:solidFill>
                <a:latin typeface="Pretendard"/>
              </a:rPr>
              <a:t>✓ 우선 지원 + SLA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81744" y="461772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>
                <a:solidFill>
                  <a:srgbClr val="1A1E36"/>
                </a:solidFill>
                <a:latin typeface="Pretendard"/>
              </a:rPr>
              <a:t>✓ 보안 컨설팅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81744" y="498348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>
                <a:solidFill>
                  <a:srgbClr val="1A1E36"/>
                </a:solidFill>
                <a:latin typeface="Pretendard"/>
              </a:rPr>
              <a:t>✓ 커스텀 통합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660196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CADCFC"/>
                </a:solidFill>
                <a:latin typeface="Pretendard"/>
              </a:rPr>
              <a:t>Aegis ATV  사용 설명서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Pretendard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F96167"/>
                </a:solidFill>
                <a:latin typeface="Pretendard"/>
              </a:rPr>
              <a:t>통합 시나리오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 i="0">
                <a:solidFill>
                  <a:srgbClr val="1E2761"/>
                </a:solidFill>
                <a:latin typeface="Pretendard"/>
              </a:rPr>
              <a:t>어떤 도구 · 환경에서 쓰나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548640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5532120" cy="224028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5074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E2761"/>
                </a:solidFill>
                <a:latin typeface="Pretendard"/>
              </a:rPr>
              <a:t>Claude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50008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1">
                <a:solidFill>
                  <a:srgbClr val="8A90A8"/>
                </a:solidFill>
                <a:latin typeface="Pretendard"/>
              </a:rPr>
              <a:t>가장 흔한 사용 환경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50749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1A1E36"/>
                </a:solidFill>
                <a:latin typeface="Consolas"/>
              </a:rPr>
              <a:t>uv run aegis install --mode local --profile pro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83280"/>
            <a:ext cx="5074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>
                <a:solidFill>
                  <a:srgbClr val="1E2761"/>
                </a:solidFill>
                <a:latin typeface="Pretendard"/>
              </a:rPr>
              <a:t>→ ~/.claude/settings.json 자동 패치 + 모든 tool call 자동 검증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783080"/>
            <a:ext cx="5532120" cy="224028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920240"/>
            <a:ext cx="5074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E2761"/>
                </a:solidFill>
                <a:latin typeface="Pretendard"/>
              </a:rPr>
              <a:t>OpenClaw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350008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1">
                <a:solidFill>
                  <a:srgbClr val="8A90A8"/>
                </a:solidFill>
                <a:latin typeface="Pretendard"/>
              </a:rPr>
              <a:t>멀티 채널 agent (Telegram · Discord · Slack)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743200"/>
            <a:ext cx="50749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1A1E36"/>
                </a:solidFill>
                <a:latin typeface="Consolas"/>
              </a:rPr>
              <a:t>npm install @happyikas/openclaw-plugin-aegis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383280"/>
            <a:ext cx="5074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>
                <a:solidFill>
                  <a:srgbClr val="1E2761"/>
                </a:solidFill>
                <a:latin typeface="Pretendard"/>
              </a:rPr>
              <a:t>→ before_tool_call 후크 + sidecar 자동 검증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206240"/>
            <a:ext cx="5532120" cy="224028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5074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E2761"/>
                </a:solidFill>
                <a:latin typeface="Pretendard"/>
              </a:rPr>
              <a:t>OpenRouter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773168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1">
                <a:solidFill>
                  <a:srgbClr val="8A90A8"/>
                </a:solidFill>
                <a:latin typeface="Pretendard"/>
              </a:rPr>
              <a:t>300+ models · 60+ providers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166360"/>
            <a:ext cx="50749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1A1E36"/>
                </a:solidFill>
                <a:latin typeface="Consolas"/>
              </a:rPr>
              <a:t>from aegis.integrations.openrouter import canonical_provider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806440"/>
            <a:ext cx="5074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>
                <a:solidFill>
                  <a:srgbClr val="1E2761"/>
                </a:solidFill>
                <a:latin typeface="Pretendard"/>
              </a:rPr>
              <a:t>→ provider-drift advisor — 어느 provider 가 더 위험한지 정량화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206240"/>
            <a:ext cx="5532120" cy="224028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4343400"/>
            <a:ext cx="5074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E2761"/>
                </a:solidFill>
                <a:latin typeface="Pretendard"/>
              </a:rPr>
              <a:t>Hermes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773168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1">
                <a:solidFill>
                  <a:srgbClr val="8A90A8"/>
                </a:solidFill>
                <a:latin typeface="Pretendard"/>
              </a:rPr>
              <a:t>Self-improving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166360"/>
            <a:ext cx="50749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1A1E36"/>
                </a:solidFill>
                <a:latin typeface="Consolas"/>
              </a:rPr>
              <a:t>docs/integrations/hermes.md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806440"/>
            <a:ext cx="5074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>
                <a:solidFill>
                  <a:srgbClr val="1E2761"/>
                </a:solidFill>
                <a:latin typeface="Pretendard"/>
              </a:rPr>
              <a:t>→ 외부 감사 layer — self-improvement 의 cross-check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60196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CADCFC"/>
                </a:solidFill>
                <a:latin typeface="Pretendard"/>
              </a:rPr>
              <a:t>Aegis ATV  사용 설명서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Pretendard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F96167"/>
                </a:solidFill>
                <a:latin typeface="Pretendard"/>
              </a:rPr>
              <a:t>자주 묻는 질문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 i="0">
                <a:solidFill>
                  <a:srgbClr val="1E2761"/>
                </a:solidFill>
                <a:latin typeface="Pretendard"/>
              </a:rPr>
              <a:t>비전문가가 가장 많이 묻는 4 가지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548640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874520"/>
            <a:ext cx="54864" cy="86868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E2761"/>
                </a:solidFill>
                <a:latin typeface="Pretendard"/>
              </a:rPr>
              <a:t>Q. 내 데이터가 외부로 나가나요?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4028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 i="0">
                <a:solidFill>
                  <a:srgbClr val="1A1E36"/>
                </a:solidFill>
                <a:latin typeface="Pretendard"/>
              </a:rPr>
              <a:t>--mode local 사용 시 0 byte 외부 송신 없음. 감사 로그도 ~/.aegis/audit.jsonl 본인 머신만.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926080"/>
            <a:ext cx="54864" cy="86868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E2761"/>
                </a:solidFill>
                <a:latin typeface="Pretendard"/>
              </a:rPr>
              <a:t>Q. 너무 느리지 않을까요?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184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 i="0">
                <a:solidFill>
                  <a:srgbClr val="1A1E36"/>
                </a:solidFill>
                <a:latin typeface="Pretendard"/>
              </a:rPr>
              <a:t>Solo Free 평균 5ms (dummy 룰). Pro/Team 평균 50ms (sLLM 포함, p95).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77640"/>
            <a:ext cx="54864" cy="86868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93192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E2761"/>
                </a:solidFill>
                <a:latin typeface="Pretendard"/>
              </a:rPr>
              <a:t>Q. Claude 가 이미 안전 응답을 하는데 또 필요한가요?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 i="0">
                <a:solidFill>
                  <a:srgbClr val="1A1E36"/>
                </a:solidFill>
                <a:latin typeface="Pretendard"/>
              </a:rPr>
              <a:t>Claude refuse 는 모델 출력 수준. Aegis 는 출력 이후 실제 tool 실행 직전에 한 번 더 검증 — below the model.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029200"/>
            <a:ext cx="54864" cy="86868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98348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E2761"/>
                </a:solidFill>
                <a:latin typeface="Pretendard"/>
              </a:rPr>
              <a:t>Q. 감사 로그가 진짜 위조 불가능한가요?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39496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 i="0">
                <a:solidFill>
                  <a:srgbClr val="1A1E36"/>
                </a:solidFill>
                <a:latin typeface="Pretendard"/>
              </a:rPr>
              <a:t>네. SHA3 hash chain + Ed25519 서명. aegis verify-audit 한 명령으로 1초 안에 외부 검증 가능.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660196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CADCFC"/>
                </a:solidFill>
                <a:latin typeface="Pretendard"/>
              </a:rPr>
              <a:t>Aegis ATV  사용 설명서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Pretendard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F96167"/>
                </a:solidFill>
                <a:latin typeface="Pretendard"/>
              </a:rPr>
              <a:t>자주 발생하는 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 i="0">
                <a:solidFill>
                  <a:srgbClr val="1E2761"/>
                </a:solidFill>
                <a:latin typeface="Pretendard"/>
              </a:rPr>
              <a:t>증상 → 원인 → 해결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548640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7830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8A90A8"/>
                </a:solidFill>
                <a:latin typeface="Pretendard"/>
              </a:rPr>
              <a:t>증상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0" y="1783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8A90A8"/>
                </a:solidFill>
                <a:latin typeface="Pretendard"/>
              </a:rPr>
              <a:t>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48840"/>
            <a:ext cx="11091672" cy="548640"/>
          </a:xfrm>
          <a:prstGeom prst="rect">
            <a:avLst/>
          </a:prstGeom>
          <a:solidFill>
            <a:srgbClr val="F6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58568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1E2761"/>
                </a:solidFill>
                <a:latin typeface="Pretendard"/>
              </a:rPr>
              <a:t>Claude Code 가 후크 무시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2258568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>
                <a:solidFill>
                  <a:srgbClr val="1A1E36"/>
                </a:solidFill>
                <a:latin typeface="Pretendard"/>
              </a:rPr>
              <a:t>Claude Code 재시작 필수. aegis status 로 settings.json 패치 상태 확인.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52928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1E2761"/>
                </a:solidFill>
                <a:latin typeface="Pretendard"/>
              </a:rPr>
              <a:t>aegis verify-audit 실패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2852928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>
                <a:solidFill>
                  <a:srgbClr val="1A1E36"/>
                </a:solidFill>
                <a:latin typeface="Pretendard"/>
              </a:rPr>
              <a:t>감사 로그 수정 가능성. aegis forensic last → backup 으로 복원.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337560"/>
            <a:ext cx="11091672" cy="548640"/>
          </a:xfrm>
          <a:prstGeom prst="rect">
            <a:avLst/>
          </a:prstGeom>
          <a:solidFill>
            <a:srgbClr val="F6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447288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1E2761"/>
                </a:solidFill>
                <a:latin typeface="Pretendard"/>
              </a:rPr>
              <a:t>BLOCK 메시지 너무 많음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3447288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>
                <a:solidFill>
                  <a:srgbClr val="1A1E36"/>
                </a:solidFill>
                <a:latin typeface="Pretendard"/>
              </a:rPr>
              <a:t>Coach baseline 학습 부족. 1주일 AEGIS_BURNIN_SHADOW=1 후 train-m13.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41648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1E2761"/>
                </a:solidFill>
                <a:latin typeface="Pretendard"/>
              </a:rPr>
              <a:t>Pro 활성 후에도 dummy judge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4041648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>
                <a:solidFill>
                  <a:srgbClr val="1A1E36"/>
                </a:solidFill>
                <a:latin typeface="Pretendard"/>
              </a:rPr>
              <a:t>echo $AEGIS_JUDGE_PROVIDER 확인. unset 또는 local-phi / haiku 설정.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526280"/>
            <a:ext cx="11091672" cy="548640"/>
          </a:xfrm>
          <a:prstGeom prst="rect">
            <a:avLst/>
          </a:prstGeom>
          <a:solidFill>
            <a:srgbClr val="F6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636008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1E2761"/>
                </a:solidFill>
                <a:latin typeface="Pretendard"/>
              </a:rPr>
              <a:t>OpenRouter route 가 (no-provider) 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4636008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>
                <a:solidFill>
                  <a:srgbClr val="1A1E36"/>
                </a:solidFill>
                <a:latin typeface="Pretendard"/>
              </a:rPr>
              <a:t>canonical_provider() 헬퍼로 provider 문자열 생성하여 ATV header 에 stamp.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230368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1E2761"/>
                </a:solidFill>
                <a:latin typeface="Pretendard"/>
              </a:rPr>
              <a:t>한국어 메시지 깨짐 (Windows)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5230368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>
                <a:solidFill>
                  <a:srgbClr val="1A1E36"/>
                </a:solidFill>
                <a:latin typeface="Pretendard"/>
              </a:rPr>
              <a:t>터미널 UTF-8 설정: chcp 65001.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660196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CADCFC"/>
                </a:solidFill>
                <a:latin typeface="Pretendard"/>
              </a:rPr>
              <a:t>Aegis ATV  사용 설명서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Pretendard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560320"/>
            <a:ext cx="731520" cy="73152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F96167"/>
                </a:solidFill>
                <a:latin typeface="Pretendard"/>
              </a:rPr>
              <a:t>한 문장 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109728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Pretendard"/>
              </a:rPr>
              <a:t>"Aegis 는 당신의 AI 에이전트가 만드는 모든 행동을,
실행 직전에 검증하고, 영원히 위조 불가능한 기록으로
남기는 도구입니다."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120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 i="1">
                <a:solidFill>
                  <a:srgbClr val="CADCFC"/>
                </a:solidFill>
                <a:latin typeface="Pretendard"/>
              </a:rPr>
              <a:t>무료로 시작 · 노트북 밖으로 데이터 안 나감 · 한 명령으로 감사 가능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5669280"/>
            <a:ext cx="8531352" cy="548640"/>
          </a:xfrm>
          <a:prstGeom prst="rect">
            <a:avLst/>
          </a:prstGeom>
          <a:solidFill>
            <a:srgbClr val="1A1E36"/>
          </a:solidFill>
          <a:ln w="12700">
            <a:solidFill>
              <a:srgbClr val="F961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5760720"/>
            <a:ext cx="85313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CADCFC"/>
                </a:solidFill>
                <a:latin typeface="Consolas"/>
              </a:rPr>
              <a:t>$ uv run aegis install --mode local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37960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CADCFC"/>
                </a:solidFill>
                <a:latin typeface="Pretendard"/>
              </a:rPr>
              <a:t>GitHub: github.com/happyikas/Aegis-ATV  ·  aegisdata.ai  ·  datamonster@aegisdata.ai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